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74" r:id="rId5"/>
    <p:sldId id="275" r:id="rId6"/>
    <p:sldId id="276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30F67F-E391-4829-8772-22E4A334533E}" v="33" dt="2026-07-30T15:27:16.33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77" d="100"/>
          <a:sy n="77" d="100"/>
        </p:scale>
        <p:origin x="77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55069" y="144109"/>
            <a:ext cx="521784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7352" y="191626"/>
            <a:ext cx="1135114" cy="134288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14231" y="191626"/>
            <a:ext cx="1520111" cy="13428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459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8442"/>
            <a:ext cx="11994931" cy="112315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55923" y="1445995"/>
            <a:ext cx="9183477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dirty="0"/>
              <a:t>          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/>
              <a:t>        </a:t>
            </a:r>
            <a:r>
              <a:rPr sz="2800" dirty="0"/>
              <a:t>CS</a:t>
            </a:r>
            <a:r>
              <a:rPr lang="en-US" sz="2800" dirty="0"/>
              <a:t>A0501</a:t>
            </a:r>
            <a:r>
              <a:rPr lang="en-IN" sz="2800" dirty="0"/>
              <a:t>–</a:t>
            </a:r>
            <a:r>
              <a:rPr lang="en-IN" sz="2800" spc="-170" dirty="0"/>
              <a:t> </a:t>
            </a:r>
            <a:r>
              <a:rPr lang="en-US" sz="2800" spc="-25" dirty="0"/>
              <a:t>DATA BASE MANAGEMENT SYSTEM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1255923" y="1789865"/>
            <a:ext cx="9448800" cy="518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2954" marR="3914140" indent="545465">
              <a:lnSpc>
                <a:spcPct val="111000"/>
              </a:lnSpc>
              <a:spcBef>
                <a:spcPts val="100"/>
              </a:spcBef>
            </a:pP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4669" y="4095242"/>
            <a:ext cx="2908731" cy="131574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280"/>
              </a:spcBef>
            </a:pPr>
            <a:endParaRPr lang="en-IN" sz="1800" b="1" dirty="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  <a:spcBef>
                <a:spcPts val="128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</a:t>
            </a:r>
            <a:endParaRPr lang="en-US" b="1" spc="-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lang="en-US" sz="1800" b="1" spc="-50" dirty="0">
                <a:latin typeface="Times New Roman"/>
                <a:cs typeface="Times New Roman"/>
              </a:rPr>
              <a:t>  K. S</a:t>
            </a:r>
            <a:r>
              <a:rPr lang="en-US" b="1" spc="-50" dirty="0">
                <a:latin typeface="Times New Roman"/>
                <a:cs typeface="Times New Roman"/>
              </a:rPr>
              <a:t>atwik(192525270)</a:t>
            </a:r>
            <a:endParaRPr lang="en-US" sz="1800" b="1" spc="-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10601" y="5034838"/>
            <a:ext cx="3276600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GUIDED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lang="en-IN" sz="2000" b="1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/>
                <a:cs typeface="Times New Roman"/>
              </a:rPr>
              <a:t>Dr .A.JAYA MABEL RANI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spc="-25" dirty="0">
              <a:latin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7503CD-17FD-3F45-0E57-4145046CD5C3}"/>
              </a:ext>
            </a:extLst>
          </p:cNvPr>
          <p:cNvSpPr/>
          <p:nvPr/>
        </p:nvSpPr>
        <p:spPr>
          <a:xfrm>
            <a:off x="723900" y="2220730"/>
            <a:ext cx="10744200" cy="9372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3363"/>
            <a:ext cx="974140" cy="10596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1" cy="1342881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71800" y="342737"/>
            <a:ext cx="6477000" cy="23519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br>
              <a:rPr lang="en-IN" sz="2400" dirty="0"/>
            </a:br>
            <a:br>
              <a:rPr lang="en-IN" sz="2400" dirty="0"/>
            </a:br>
            <a:r>
              <a:rPr lang="en-IN" sz="2800" dirty="0"/>
              <a:t>QUESTION 1  INTRODUCTION TO DBMS</a:t>
            </a:r>
            <a:br>
              <a:rPr lang="en-IN" sz="2800" dirty="0"/>
            </a:br>
            <a:br>
              <a:rPr lang="en-IN" sz="2400" dirty="0"/>
            </a:b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B3BD3-166E-A817-5810-23BD1D635ABA}"/>
              </a:ext>
            </a:extLst>
          </p:cNvPr>
          <p:cNvSpPr txBox="1"/>
          <p:nvPr/>
        </p:nvSpPr>
        <p:spPr>
          <a:xfrm>
            <a:off x="381000" y="1600200"/>
            <a:ext cx="11277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100" dirty="0"/>
              <a:t>A </a:t>
            </a:r>
            <a:r>
              <a:rPr lang="en-IN" sz="2100" b="1" dirty="0"/>
              <a:t>Database Management System (DBMS)</a:t>
            </a:r>
            <a:r>
              <a:rPr lang="en-IN" sz="2100" dirty="0"/>
              <a:t> is software used to create, store, organize, and manage data efficiently.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1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100" dirty="0"/>
              <a:t>It acts as an interface between users, applications, and the database for easy data access.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1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100" dirty="0"/>
              <a:t>DBMS ensures that data remains accurate, secure, and available to authorized users.</a:t>
            </a:r>
          </a:p>
          <a:p>
            <a:pPr lvl="0"/>
            <a:endParaRPr lang="en-IN" sz="21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100" dirty="0"/>
              <a:t>Popular DBMS software includes </a:t>
            </a:r>
            <a:r>
              <a:rPr lang="en-IN" sz="2100" b="1" dirty="0"/>
              <a:t>MySQL, Oracle Database, Microsoft SQL Server, and PostgreSQL</a:t>
            </a:r>
            <a:r>
              <a:rPr lang="en-IN" sz="21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0" cy="12346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1" cy="134288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867104" y="443448"/>
            <a:ext cx="4591096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2400" spc="-10" dirty="0"/>
              <a:t>      </a:t>
            </a:r>
            <a:r>
              <a:rPr lang="en-IN" sz="2800" dirty="0"/>
              <a:t>OBJECTIVES OF DBMS</a:t>
            </a:r>
            <a:br>
              <a:rPr lang="en-IN" sz="2800" dirty="0"/>
            </a:br>
            <a:endParaRPr sz="2800" dirty="0"/>
          </a:p>
        </p:txBody>
      </p:sp>
      <p:sp>
        <p:nvSpPr>
          <p:cNvPr id="5" name="object 5"/>
          <p:cNvSpPr txBox="1"/>
          <p:nvPr/>
        </p:nvSpPr>
        <p:spPr>
          <a:xfrm>
            <a:off x="371639" y="1828800"/>
            <a:ext cx="11363161" cy="315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endParaRPr lang="en-IN" dirty="0"/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100" dirty="0"/>
              <a:t>Store and organize large volumes of data in a structured and systematic manner.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1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100" dirty="0"/>
              <a:t>Reduce data redundancy and maintain consistency through centralized data management.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1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100" dirty="0"/>
              <a:t>Provide secure access using authentication, authorization, and user privilege management.</a:t>
            </a:r>
          </a:p>
          <a:p>
            <a:pPr lvl="0"/>
            <a:r>
              <a:rPr lang="en-IN" sz="21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100" dirty="0"/>
              <a:t>Support efficient data retrieval, updates, and sharing among multiple users simultaneously.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48769" y="367248"/>
            <a:ext cx="8200390" cy="164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0">
              <a:spcBef>
                <a:spcPts val="100"/>
              </a:spcBef>
            </a:pPr>
            <a:r>
              <a:rPr lang="en-IN" sz="2600" dirty="0"/>
              <a:t>   </a:t>
            </a:r>
            <a:br>
              <a:rPr lang="en-IN" sz="2600" dirty="0"/>
            </a:br>
            <a:br>
              <a:rPr lang="en-IN" sz="2600" dirty="0"/>
            </a:br>
            <a:r>
              <a:rPr lang="en-IN" sz="2800" dirty="0"/>
              <a:t> ADVANTAGES OF DBMS</a:t>
            </a:r>
            <a:br>
              <a:rPr lang="en-IN" sz="2800" dirty="0"/>
            </a:br>
            <a:endParaRPr sz="2600" spc="-1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F49AA-A6DE-0D98-9C71-75C15C1E4ADB}"/>
              </a:ext>
            </a:extLst>
          </p:cNvPr>
          <p:cNvSpPr txBox="1"/>
          <p:nvPr/>
        </p:nvSpPr>
        <p:spPr>
          <a:xfrm>
            <a:off x="762000" y="2782258"/>
            <a:ext cx="952500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100" dirty="0"/>
              <a:t>Improves data integrity by enforcing rules and maintaining accurate records. </a:t>
            </a:r>
          </a:p>
          <a:p>
            <a:pPr lvl="0"/>
            <a:endParaRPr lang="en-IN" sz="2100" dirty="0"/>
          </a:p>
          <a:p>
            <a:pPr lvl="0"/>
            <a:r>
              <a:rPr lang="en-IN" sz="2100" dirty="0"/>
              <a:t>Enables data sharing while controlling concurrent access through transaction management.</a:t>
            </a:r>
          </a:p>
          <a:p>
            <a:pPr lvl="0"/>
            <a:r>
              <a:rPr lang="en-IN" sz="2100" dirty="0"/>
              <a:t> </a:t>
            </a:r>
          </a:p>
          <a:p>
            <a:pPr lvl="0"/>
            <a:r>
              <a:rPr lang="en-IN" sz="2100" dirty="0"/>
              <a:t>Provides backup and recovery mechanisms to protect data from system failures.</a:t>
            </a:r>
          </a:p>
          <a:p>
            <a:pPr lvl="0"/>
            <a:r>
              <a:rPr lang="en-IN" sz="2100" dirty="0"/>
              <a:t> </a:t>
            </a:r>
          </a:p>
          <a:p>
            <a:pPr lvl="0"/>
            <a:r>
              <a:rPr lang="en-IN" sz="2100" dirty="0"/>
              <a:t>Increases productivity by simplifying data management and reducing manual effort.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4" cy="1342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1" cy="134288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48769" y="367248"/>
            <a:ext cx="8200390" cy="945514"/>
          </a:xfrm>
          <a:prstGeom prst="rect">
            <a:avLst/>
          </a:prstGeom>
        </p:spPr>
        <p:txBody>
          <a:bodyPr vert="horz" wrap="square" lIns="0" tIns="113410" rIns="0" bIns="0" rtlCol="0">
            <a:spAutoFit/>
          </a:bodyPr>
          <a:lstStyle/>
          <a:p>
            <a:pPr marL="2424430">
              <a:spcBef>
                <a:spcPts val="100"/>
              </a:spcBef>
            </a:pPr>
            <a:r>
              <a:rPr lang="en-IN" sz="2800" dirty="0"/>
              <a:t>Real-World Applications of DBMS</a:t>
            </a:r>
            <a:br>
              <a:rPr lang="en-IN" sz="2800" dirty="0"/>
            </a:br>
            <a:endParaRPr sz="2600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609600" y="1904999"/>
            <a:ext cx="11201400" cy="4552528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Banking:</a:t>
            </a:r>
            <a:r>
              <a:rPr lang="en-IN" sz="2400" dirty="0"/>
              <a:t> Manages customer accounts, transactions, loans, and ATM operations securely.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Healthcare:</a:t>
            </a:r>
            <a:r>
              <a:rPr lang="en-IN" sz="2400" dirty="0"/>
              <a:t> Stores patient records, prescriptions, appointments, and medical histories.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Education:</a:t>
            </a:r>
            <a:r>
              <a:rPr lang="en-IN" sz="2400" dirty="0"/>
              <a:t> Maintains student information, attendance, examination results, and fee details.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E-Commerce:</a:t>
            </a:r>
            <a:r>
              <a:rPr lang="en-IN" sz="2400" dirty="0"/>
              <a:t> Handles product </a:t>
            </a:r>
            <a:r>
              <a:rPr lang="en-IN" sz="2400" dirty="0" err="1"/>
              <a:t>cata</a:t>
            </a:r>
            <a:r>
              <a:rPr lang="en-IN" sz="2400" dirty="0"/>
              <a:t> logs, customer orders, inventory, and online payments.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4" cy="1342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1" cy="134288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73261" y="344134"/>
            <a:ext cx="3440429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2800" dirty="0"/>
              <a:t>Summary</a:t>
            </a:r>
            <a:br>
              <a:rPr lang="en-IN" sz="2800" dirty="0"/>
            </a:br>
            <a:endParaRPr sz="2600"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924909" y="1844169"/>
            <a:ext cx="10180320" cy="4398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DBMS is an essential software system for efficient data storage and management.</a:t>
            </a:r>
          </a:p>
          <a:p>
            <a:pPr lvl="0"/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It provides security, consistency, reliability, and controlled access to information.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Organizations use DBMS to improve decision-making and automate business operations.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Modern applications rely on DBMS for scalable, accurate, and secure data management.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7A14B-F22F-70A9-EF5B-A1D2551B4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1723549"/>
          </a:xfrm>
        </p:spPr>
        <p:txBody>
          <a:bodyPr/>
          <a:lstStyle/>
          <a:p>
            <a:r>
              <a:rPr lang="en-IN" sz="2800" dirty="0"/>
              <a:t>QUESTION 2 Comparison Between File-Based System and DBMS</a:t>
            </a:r>
            <a:br>
              <a:rPr lang="en-IN" sz="2800" dirty="0"/>
            </a:br>
            <a:br>
              <a:rPr lang="en-IN" sz="2800" dirty="0"/>
            </a:b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5AB10-C5F7-83AB-200E-047F81D8A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4308872"/>
          </a:xfrm>
        </p:spPr>
        <p:txBody>
          <a:bodyPr/>
          <a:lstStyle/>
          <a:p>
            <a:r>
              <a:rPr lang="en-IN" b="1" dirty="0"/>
              <a:t>File-Based System</a:t>
            </a:r>
          </a:p>
          <a:p>
            <a:endParaRPr lang="en-IN" b="1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Stores data in separate files without centralized control.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High data redundancy and inconsistency may occur.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Limited security and difficult data sharing.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Suitable only for small and simple applications.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dirty="0"/>
          </a:p>
          <a:p>
            <a:r>
              <a:rPr lang="en-IN" b="1" dirty="0"/>
              <a:t> DBMS</a:t>
            </a:r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Stores data in a centralized and structured database.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Reduces redundancy and improves data consistency.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Provides security, backup, and multi-user access.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Widely used in banking, healthcare, education, and e-commerce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733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57D8-67F8-9F78-9618-9AA14506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1046440"/>
          </a:xfrm>
        </p:spPr>
        <p:txBody>
          <a:bodyPr/>
          <a:lstStyle/>
          <a:p>
            <a:r>
              <a:rPr lang="en-IN" sz="2800" dirty="0"/>
              <a:t>Q3. Comparison of Data Models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66D70-FA65-6BCB-B408-DB0615B67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5847755"/>
          </a:xfrm>
        </p:spPr>
        <p:txBody>
          <a:bodyPr/>
          <a:lstStyle/>
          <a:p>
            <a:r>
              <a:rPr lang="en-IN" b="1" dirty="0"/>
              <a:t>Hierarchical &amp; Network Models</a:t>
            </a:r>
          </a:p>
          <a:p>
            <a:endParaRPr lang="en-IN" b="1" dirty="0"/>
          </a:p>
          <a:p>
            <a:pPr lvl="0"/>
            <a:r>
              <a:rPr lang="en-IN" b="1" dirty="0"/>
              <a:t>Hierarchical Model: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Organizes data in a tree structure with one-to-many relationships.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Easy to understand but lacks flexibility for complex relationships.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Network Model:</a:t>
            </a:r>
          </a:p>
          <a:p>
            <a:pPr lvl="0"/>
            <a:endParaRPr lang="en-IN" b="1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 Supports many-to-many relationships using linked records.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Suitable for applications requiring multiple data connections. </a:t>
            </a:r>
          </a:p>
          <a:p>
            <a:pPr lvl="0"/>
            <a:endParaRPr lang="en-IN" dirty="0"/>
          </a:p>
          <a:p>
            <a:r>
              <a:rPr lang="en-IN" b="1" dirty="0"/>
              <a:t>Relational Model</a:t>
            </a:r>
          </a:p>
          <a:p>
            <a:endParaRPr lang="en-IN" b="1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Stores data in tables consisting of rows and columns.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Uses primary and foreign keys to establish relationships.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Supports SQL for efficient data retrieval and manipulation.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Most widely used model in modern database systems.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9487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7FBB3-0165-BB96-38AF-CB75C360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1292662"/>
          </a:xfrm>
        </p:spPr>
        <p:txBody>
          <a:bodyPr/>
          <a:lstStyle/>
          <a:p>
            <a:r>
              <a:rPr lang="en-IN" sz="2800" dirty="0"/>
              <a:t>Q4. Logical Data Independence vs Physical Data Independence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E58AB-0992-0C96-C9EA-9645E155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4924425"/>
          </a:xfrm>
        </p:spPr>
        <p:txBody>
          <a:bodyPr/>
          <a:lstStyle/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Logical Data Independence</a:t>
            </a:r>
          </a:p>
          <a:p>
            <a:endParaRPr lang="en-IN" b="1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Changes in logical schema do not affect application programs.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Allows modification of tables, attributes, and relationships.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Improves flexibility during database design updates.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Easier to maintain growing databases.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dirty="0"/>
          </a:p>
          <a:p>
            <a:r>
              <a:rPr lang="en-IN" b="1" dirty="0"/>
              <a:t>Physical Data Independence</a:t>
            </a:r>
          </a:p>
          <a:p>
            <a:endParaRPr lang="en-IN" b="1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Changes in physical storage do not affect logical schema.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Storage methods and indexing can be modified independently.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Improves system performance without changing applications.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Simplifies database maintenance and optimization.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45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D513-FFBC-31E3-4A19-D9DDCEEAC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1046440"/>
          </a:xfrm>
        </p:spPr>
        <p:txBody>
          <a:bodyPr/>
          <a:lstStyle/>
          <a:p>
            <a:r>
              <a:rPr lang="en-IN" sz="2800" dirty="0"/>
              <a:t>Q5. Strong Entity vs Weak Entity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F7ED5-3BBF-8C20-8180-BD891CCF4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4308872"/>
          </a:xfrm>
        </p:spPr>
        <p:txBody>
          <a:bodyPr/>
          <a:lstStyle/>
          <a:p>
            <a:r>
              <a:rPr lang="en-IN" b="1" dirty="0"/>
              <a:t>Strong Entity</a:t>
            </a:r>
          </a:p>
          <a:p>
            <a:endParaRPr lang="en-IN" b="1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Has its own primary key for unique identification.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Exists independently without another entity.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Represented by a single rectangle in ER diagrams.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Example: Student, Employee, Customer.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dirty="0"/>
          </a:p>
          <a:p>
            <a:r>
              <a:rPr lang="en-IN" b="1" dirty="0"/>
              <a:t> Weak Entity</a:t>
            </a:r>
          </a:p>
          <a:p>
            <a:endParaRPr lang="en-IN" b="1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Does not have a complete primary key of its own.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Depends on a strong entity for identification.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Represented by a double rectangle in ER diagrams.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Example: Order Item, Dependent, Bank Nominee.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4394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DAF0-DA75-A9FE-54F3-D799D89D8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861774"/>
          </a:xfrm>
        </p:spPr>
        <p:txBody>
          <a:bodyPr/>
          <a:lstStyle/>
          <a:p>
            <a:r>
              <a:rPr lang="en-IN" sz="2800" dirty="0"/>
              <a:t>Q6. ANSI/SPARC Three-Level Architecture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A34B3-A481-7B34-79EE-02D522AF2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5693866"/>
          </a:xfrm>
        </p:spPr>
        <p:txBody>
          <a:bodyPr/>
          <a:lstStyle/>
          <a:p>
            <a:r>
              <a:rPr lang="en-IN" sz="1400" b="1" dirty="0"/>
              <a:t> ANSI/SPARC Architecture</a:t>
            </a:r>
          </a:p>
          <a:p>
            <a:endParaRPr lang="en-IN" sz="1400" b="1" dirty="0"/>
          </a:p>
          <a:p>
            <a:pPr lvl="0"/>
            <a:r>
              <a:rPr lang="en-IN" sz="1400" dirty="0"/>
              <a:t>Defines three levels: External, Conceptual, and Internal. </a:t>
            </a:r>
          </a:p>
          <a:p>
            <a:pPr lvl="0"/>
            <a:r>
              <a:rPr lang="en-IN" sz="1400" dirty="0"/>
              <a:t>Separates user views from physical data storage. </a:t>
            </a:r>
          </a:p>
          <a:p>
            <a:pPr lvl="0"/>
            <a:r>
              <a:rPr lang="en-IN" sz="1400" dirty="0"/>
              <a:t>Provides logical and physical data independence. </a:t>
            </a:r>
          </a:p>
          <a:p>
            <a:pPr lvl="0"/>
            <a:r>
              <a:rPr lang="en-IN" sz="1400" dirty="0"/>
              <a:t>Improves security, flexibility, and database maintenance. </a:t>
            </a:r>
          </a:p>
          <a:p>
            <a:endParaRPr lang="en-IN" sz="1400" b="1" dirty="0"/>
          </a:p>
          <a:p>
            <a:r>
              <a:rPr lang="en-IN" sz="1400" b="1" dirty="0"/>
              <a:t>Slide 2 – Diagram &amp; Explanation</a:t>
            </a:r>
          </a:p>
          <a:p>
            <a:r>
              <a:rPr lang="en-IN" sz="1400" b="1" dirty="0"/>
              <a:t>Draw this diagram in PPT:</a:t>
            </a:r>
            <a:endParaRPr lang="en-IN" sz="1400" dirty="0"/>
          </a:p>
          <a:p>
            <a:pPr rtl="0"/>
            <a:r>
              <a:rPr lang="en-IN" sz="1400" dirty="0"/>
              <a:t>        </a:t>
            </a:r>
          </a:p>
          <a:p>
            <a:pPr rtl="0"/>
            <a:r>
              <a:rPr lang="en-IN" sz="1400" dirty="0"/>
              <a:t>Users</a:t>
            </a:r>
          </a:p>
          <a:p>
            <a:pPr rtl="0"/>
            <a:r>
              <a:rPr lang="en-IN" sz="1400" dirty="0"/>
              <a:t>          │</a:t>
            </a:r>
          </a:p>
          <a:p>
            <a:pPr rtl="0"/>
            <a:r>
              <a:rPr lang="en-IN" sz="1400" dirty="0"/>
              <a:t> ┌─────────────────┐</a:t>
            </a:r>
          </a:p>
          <a:p>
            <a:pPr rtl="0"/>
            <a:r>
              <a:rPr lang="en-IN" sz="1400" dirty="0"/>
              <a:t> │ External Level  │</a:t>
            </a:r>
          </a:p>
          <a:p>
            <a:pPr rtl="0"/>
            <a:r>
              <a:rPr lang="en-IN" sz="1400" dirty="0"/>
              <a:t> └─────────────────┘</a:t>
            </a:r>
          </a:p>
          <a:p>
            <a:pPr rtl="0"/>
            <a:r>
              <a:rPr lang="en-IN" sz="1400" dirty="0"/>
              <a:t>          │</a:t>
            </a:r>
          </a:p>
          <a:p>
            <a:pPr rtl="0"/>
            <a:r>
              <a:rPr lang="en-IN" sz="1400" dirty="0"/>
              <a:t> ┌─────────────────┐</a:t>
            </a:r>
          </a:p>
          <a:p>
            <a:pPr rtl="0"/>
            <a:r>
              <a:rPr lang="en-IN" sz="1400" dirty="0"/>
              <a:t> │ Conceptual Level│</a:t>
            </a:r>
          </a:p>
          <a:p>
            <a:pPr rtl="0"/>
            <a:r>
              <a:rPr lang="en-IN" sz="1400" dirty="0"/>
              <a:t> └─────────────────┘</a:t>
            </a:r>
          </a:p>
          <a:p>
            <a:pPr rtl="0"/>
            <a:r>
              <a:rPr lang="en-IN" sz="1400" dirty="0"/>
              <a:t>          │</a:t>
            </a:r>
          </a:p>
          <a:p>
            <a:pPr rtl="0"/>
            <a:r>
              <a:rPr lang="en-IN" sz="1400" dirty="0"/>
              <a:t> ┌─────────────────┐</a:t>
            </a:r>
          </a:p>
          <a:p>
            <a:pPr rtl="0"/>
            <a:r>
              <a:rPr lang="en-IN" sz="1400" dirty="0"/>
              <a:t> │ Internal Level  │</a:t>
            </a:r>
          </a:p>
          <a:p>
            <a:pPr rtl="0"/>
            <a:r>
              <a:rPr lang="en-IN" sz="1400" dirty="0"/>
              <a:t> └─────────────────┘</a:t>
            </a:r>
          </a:p>
          <a:p>
            <a:pPr rtl="0"/>
            <a:r>
              <a:rPr lang="en-IN" sz="1400" dirty="0"/>
              <a:t>          │</a:t>
            </a:r>
          </a:p>
          <a:p>
            <a:pPr rtl="0"/>
            <a:r>
              <a:rPr lang="en-IN" sz="1400" dirty="0"/>
              <a:t>     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031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7FDB-4D88-F4C1-57CE-CAE6E8F6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861774"/>
          </a:xfrm>
        </p:spPr>
        <p:txBody>
          <a:bodyPr/>
          <a:lstStyle/>
          <a:p>
            <a:r>
              <a:rPr lang="en-IN" sz="2800" dirty="0"/>
              <a:t>Q7. ER Diagram – Online Library System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742C1-3A81-5DD4-6072-3C0FE3BD8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5801588"/>
          </a:xfrm>
        </p:spPr>
        <p:txBody>
          <a:bodyPr/>
          <a:lstStyle/>
          <a:p>
            <a:r>
              <a:rPr lang="en-IN" sz="1700" b="1" dirty="0"/>
              <a:t>Slide 1 – Components</a:t>
            </a:r>
          </a:p>
          <a:p>
            <a:endParaRPr lang="en-IN" sz="1700" b="1" dirty="0"/>
          </a:p>
          <a:p>
            <a:pPr lvl="0"/>
            <a:r>
              <a:rPr lang="en-IN" sz="1700" dirty="0"/>
              <a:t>Main entities: </a:t>
            </a:r>
            <a:r>
              <a:rPr lang="en-IN" sz="1700" b="1" dirty="0"/>
              <a:t>Book, Member, Librarian, Issue</a:t>
            </a:r>
            <a:r>
              <a:rPr lang="en-IN" sz="1700" dirty="0"/>
              <a:t>. </a:t>
            </a:r>
          </a:p>
          <a:p>
            <a:pPr lvl="0"/>
            <a:r>
              <a:rPr lang="en-IN" sz="1700" dirty="0"/>
              <a:t>Relationships connect members with borrowed books. </a:t>
            </a:r>
          </a:p>
          <a:p>
            <a:pPr lvl="0"/>
            <a:r>
              <a:rPr lang="en-IN" sz="1700" dirty="0"/>
              <a:t>Primary keys uniquely identify each entity. </a:t>
            </a:r>
          </a:p>
          <a:p>
            <a:pPr lvl="0"/>
            <a:r>
              <a:rPr lang="en-IN" sz="1700" dirty="0"/>
              <a:t>ER diagrams simplify database design and relationships.</a:t>
            </a:r>
          </a:p>
          <a:p>
            <a:pPr lvl="0"/>
            <a:r>
              <a:rPr lang="en-IN" sz="1700" dirty="0"/>
              <a:t> </a:t>
            </a:r>
          </a:p>
          <a:p>
            <a:r>
              <a:rPr lang="en-IN" sz="1700" b="1" dirty="0"/>
              <a:t>Slide 2 – ER Diagram</a:t>
            </a:r>
          </a:p>
          <a:p>
            <a:r>
              <a:rPr lang="en-IN" sz="1700" b="1" dirty="0"/>
              <a:t>Draw this ER Diagram:</a:t>
            </a:r>
          </a:p>
          <a:p>
            <a:endParaRPr lang="en-IN" sz="1700" dirty="0"/>
          </a:p>
          <a:p>
            <a:pPr rtl="0"/>
            <a:r>
              <a:rPr lang="en-IN" sz="1700" dirty="0"/>
              <a:t>Member ───── Borrows ───── Book</a:t>
            </a:r>
          </a:p>
          <a:p>
            <a:pPr rtl="0"/>
            <a:r>
              <a:rPr lang="en-IN" sz="1700" dirty="0"/>
              <a:t>   │                         │</a:t>
            </a:r>
          </a:p>
          <a:p>
            <a:pPr rtl="0"/>
            <a:r>
              <a:rPr lang="en-IN" sz="1700" dirty="0"/>
              <a:t> Member ID                Book ID</a:t>
            </a:r>
          </a:p>
          <a:p>
            <a:pPr rtl="0"/>
            <a:r>
              <a:rPr lang="en-IN" sz="1700" dirty="0"/>
              <a:t> Name                    Title</a:t>
            </a:r>
          </a:p>
          <a:p>
            <a:pPr rtl="0"/>
            <a:r>
              <a:rPr lang="en-IN" sz="1700" dirty="0"/>
              <a:t> Phone                   Author</a:t>
            </a:r>
          </a:p>
          <a:p>
            <a:pPr rtl="0"/>
            <a:endParaRPr lang="en-IN" sz="1700" dirty="0"/>
          </a:p>
          <a:p>
            <a:pPr rtl="0"/>
            <a:r>
              <a:rPr lang="en-IN" sz="1700" dirty="0"/>
              <a:t>        │</a:t>
            </a:r>
          </a:p>
          <a:p>
            <a:pPr rtl="0"/>
            <a:r>
              <a:rPr lang="en-IN" sz="1700" dirty="0"/>
              <a:t>      Issue</a:t>
            </a:r>
          </a:p>
          <a:p>
            <a:pPr rtl="0"/>
            <a:r>
              <a:rPr lang="en-IN" sz="1700" dirty="0"/>
              <a:t>     Issue ID</a:t>
            </a:r>
          </a:p>
          <a:p>
            <a:pPr rtl="0"/>
            <a:r>
              <a:rPr lang="en-IN" sz="1700" dirty="0"/>
              <a:t>     Issue Date</a:t>
            </a:r>
          </a:p>
          <a:p>
            <a:pPr rtl="0"/>
            <a:r>
              <a:rPr lang="en-IN" sz="1700" dirty="0"/>
              <a:t>     Return Date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747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9AB5-4590-C8FC-0B7B-F2CE9A6B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861774"/>
          </a:xfrm>
        </p:spPr>
        <p:txBody>
          <a:bodyPr/>
          <a:lstStyle/>
          <a:p>
            <a:r>
              <a:rPr lang="en-IN" sz="2800" dirty="0"/>
              <a:t>Q8. EER Model – University Case Study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C8847-8CD3-DC09-D3F4-3A19B3201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5016758"/>
          </a:xfrm>
        </p:spPr>
        <p:txBody>
          <a:bodyPr/>
          <a:lstStyle/>
          <a:p>
            <a:r>
              <a:rPr lang="en-IN" sz="1800" b="1" dirty="0"/>
              <a:t>Slide 1 – EER Concepts</a:t>
            </a:r>
          </a:p>
          <a:p>
            <a:pPr lvl="0"/>
            <a:r>
              <a:rPr lang="en-IN" sz="1800" dirty="0"/>
              <a:t>EER extends ER by adding specialization and generalization. </a:t>
            </a:r>
          </a:p>
          <a:p>
            <a:pPr lvl="0"/>
            <a:r>
              <a:rPr lang="en-IN" sz="1800" dirty="0"/>
              <a:t>Parent entity: </a:t>
            </a:r>
            <a:r>
              <a:rPr lang="en-IN" sz="1800" b="1" dirty="0"/>
              <a:t>Person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Child entities: </a:t>
            </a:r>
            <a:r>
              <a:rPr lang="en-IN" sz="1800" b="1" dirty="0"/>
              <a:t>Student</a:t>
            </a:r>
            <a:r>
              <a:rPr lang="en-IN" sz="1800" dirty="0"/>
              <a:t> and </a:t>
            </a:r>
            <a:r>
              <a:rPr lang="en-IN" sz="1800" b="1" dirty="0"/>
              <a:t>Faculty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Improves modelling of real-world scenarios. </a:t>
            </a:r>
          </a:p>
          <a:p>
            <a:pPr lvl="0"/>
            <a:endParaRPr lang="en-IN" sz="1800" dirty="0"/>
          </a:p>
          <a:p>
            <a:r>
              <a:rPr lang="en-IN" sz="1800" b="1" dirty="0"/>
              <a:t>Slide 2 – EER Diagram</a:t>
            </a:r>
          </a:p>
          <a:p>
            <a:r>
              <a:rPr lang="en-IN" sz="1800" b="1" dirty="0"/>
              <a:t>Draw this EER Diagram:</a:t>
            </a:r>
          </a:p>
          <a:p>
            <a:endParaRPr lang="en-IN" sz="1800" dirty="0"/>
          </a:p>
          <a:p>
            <a:pPr rtl="0"/>
            <a:r>
              <a:rPr lang="en-IN" sz="1800" dirty="0"/>
              <a:t>          Person</a:t>
            </a:r>
          </a:p>
          <a:p>
            <a:pPr rtl="0"/>
            <a:r>
              <a:rPr lang="en-IN" sz="1800" dirty="0"/>
              <a:t>      (Person ID, Name)</a:t>
            </a:r>
          </a:p>
          <a:p>
            <a:pPr rtl="0"/>
            <a:r>
              <a:rPr lang="en-IN" sz="1800" dirty="0"/>
              <a:t>             │</a:t>
            </a:r>
          </a:p>
          <a:p>
            <a:pPr rtl="0"/>
            <a:r>
              <a:rPr lang="en-IN" sz="1800" dirty="0"/>
              <a:t>   ┌─────────┴─────────┐</a:t>
            </a:r>
          </a:p>
          <a:p>
            <a:pPr rtl="0"/>
            <a:r>
              <a:rPr lang="en-IN" sz="1800" dirty="0"/>
              <a:t>   │                   │</a:t>
            </a:r>
          </a:p>
          <a:p>
            <a:pPr rtl="0"/>
            <a:r>
              <a:rPr lang="en-IN" sz="1800" dirty="0"/>
              <a:t>Student             Faculty</a:t>
            </a:r>
          </a:p>
          <a:p>
            <a:pPr rtl="0"/>
            <a:r>
              <a:rPr lang="en-IN" sz="1800" dirty="0"/>
              <a:t>Roll No              Employee ID</a:t>
            </a:r>
          </a:p>
          <a:p>
            <a:pPr rtl="0"/>
            <a:r>
              <a:rPr lang="en-IN" sz="1800" dirty="0"/>
              <a:t>Course              Department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70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C93F-6C5B-D47F-FE51-7A906A27E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861774"/>
          </a:xfrm>
        </p:spPr>
        <p:txBody>
          <a:bodyPr/>
          <a:lstStyle/>
          <a:p>
            <a:r>
              <a:rPr lang="en-IN" sz="2800" dirty="0"/>
              <a:t>Q9. EER Diagram – Retail Chain Management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D1A65-0D5C-20C2-14D5-52D9015DB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5570756"/>
          </a:xfrm>
        </p:spPr>
        <p:txBody>
          <a:bodyPr/>
          <a:lstStyle/>
          <a:p>
            <a:r>
              <a:rPr lang="en-IN" sz="1800" b="1" dirty="0"/>
              <a:t>Slide 1 – System Design</a:t>
            </a:r>
          </a:p>
          <a:p>
            <a:endParaRPr lang="en-IN" sz="1800" b="1" dirty="0"/>
          </a:p>
          <a:p>
            <a:pPr lvl="0"/>
            <a:r>
              <a:rPr lang="en-IN" sz="1800" dirty="0"/>
              <a:t>Main entities: </a:t>
            </a:r>
            <a:r>
              <a:rPr lang="en-IN" sz="1800" b="1" dirty="0"/>
              <a:t>Customer, Product, Order, Store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Orders connect customers with purchased products. </a:t>
            </a:r>
          </a:p>
          <a:p>
            <a:pPr lvl="0"/>
            <a:r>
              <a:rPr lang="en-IN" sz="1800" dirty="0"/>
              <a:t>Stores manage product inventory and sales. </a:t>
            </a:r>
          </a:p>
          <a:p>
            <a:pPr lvl="0"/>
            <a:r>
              <a:rPr lang="en-IN" sz="1800" dirty="0"/>
              <a:t>EER improves database organization and scalability. </a:t>
            </a:r>
          </a:p>
          <a:p>
            <a:pPr lvl="0"/>
            <a:endParaRPr lang="en-IN" sz="1800" dirty="0"/>
          </a:p>
          <a:p>
            <a:r>
              <a:rPr lang="en-IN" sz="1800" b="1" dirty="0"/>
              <a:t>Slide 2 – EER Diagram</a:t>
            </a:r>
          </a:p>
          <a:p>
            <a:r>
              <a:rPr lang="en-IN" sz="1800" b="1" dirty="0"/>
              <a:t>Draw this diagram:</a:t>
            </a:r>
          </a:p>
          <a:p>
            <a:endParaRPr lang="en-IN" sz="1800" dirty="0"/>
          </a:p>
          <a:p>
            <a:pPr rtl="0"/>
            <a:r>
              <a:rPr lang="en-IN" sz="1800" dirty="0"/>
              <a:t>Customer ─── Places ─── Order ─── Contains ─── Product</a:t>
            </a:r>
          </a:p>
          <a:p>
            <a:pPr rtl="0"/>
            <a:r>
              <a:rPr lang="en-IN" sz="1800" dirty="0"/>
              <a:t>    │                                          │</a:t>
            </a:r>
          </a:p>
          <a:p>
            <a:pPr rtl="0"/>
            <a:r>
              <a:rPr lang="en-IN" sz="1800" dirty="0"/>
              <a:t>Customer ID                               Product ID</a:t>
            </a:r>
          </a:p>
          <a:p>
            <a:pPr rtl="0"/>
            <a:r>
              <a:rPr lang="en-IN" sz="1800" dirty="0"/>
              <a:t>Name                                     ProductName</a:t>
            </a:r>
          </a:p>
          <a:p>
            <a:pPr rtl="0"/>
            <a:endParaRPr lang="en-IN" sz="1800" dirty="0"/>
          </a:p>
          <a:p>
            <a:pPr rtl="0"/>
            <a:r>
              <a:rPr lang="en-IN" sz="1800" dirty="0"/>
              <a:t>                │</a:t>
            </a:r>
          </a:p>
          <a:p>
            <a:pPr rtl="0"/>
            <a:r>
              <a:rPr lang="en-IN" sz="1800" dirty="0"/>
              <a:t>             Store</a:t>
            </a:r>
          </a:p>
          <a:p>
            <a:pPr rtl="0"/>
            <a:r>
              <a:rPr lang="en-IN" sz="1800" dirty="0"/>
              <a:t>           Store ID</a:t>
            </a:r>
          </a:p>
          <a:p>
            <a:pPr rtl="0"/>
            <a:r>
              <a:rPr lang="en-IN" sz="1800" dirty="0"/>
              <a:t>           Location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40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4887-651C-C8BE-F370-92222F4A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861774"/>
          </a:xfrm>
        </p:spPr>
        <p:txBody>
          <a:bodyPr/>
          <a:lstStyle/>
          <a:p>
            <a:r>
              <a:rPr lang="en-IN" sz="2800" dirty="0"/>
              <a:t>Q10. Software Components of a DBMS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17D86-40FD-D89C-E039-9D707245B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5539978"/>
          </a:xfrm>
        </p:spPr>
        <p:txBody>
          <a:bodyPr/>
          <a:lstStyle/>
          <a:p>
            <a:r>
              <a:rPr lang="en-IN" b="1" dirty="0"/>
              <a:t>Slide 1 – Main Software Components of DBMS</a:t>
            </a:r>
          </a:p>
          <a:p>
            <a:endParaRPr lang="en-IN" b="1" dirty="0"/>
          </a:p>
          <a:p>
            <a:pPr lvl="0"/>
            <a:r>
              <a:rPr lang="en-IN" b="1" dirty="0"/>
              <a:t>Query Processor:</a:t>
            </a:r>
            <a:r>
              <a:rPr lang="en-IN" dirty="0"/>
              <a:t> Interprets SQL queries and generates an efficient execution plan. </a:t>
            </a:r>
          </a:p>
          <a:p>
            <a:pPr lvl="0"/>
            <a:r>
              <a:rPr lang="en-IN" b="1" dirty="0"/>
              <a:t>Storage Manager:</a:t>
            </a:r>
            <a:r>
              <a:rPr lang="en-IN" dirty="0"/>
              <a:t> Organizes data files, indexes, and manages disk storage. </a:t>
            </a:r>
          </a:p>
          <a:p>
            <a:pPr lvl="0"/>
            <a:r>
              <a:rPr lang="en-IN" b="1" dirty="0"/>
              <a:t>Transaction Manager:</a:t>
            </a:r>
            <a:r>
              <a:rPr lang="en-IN" dirty="0"/>
              <a:t> Ensures transactions follow ACID properties and maintains data consistency. </a:t>
            </a:r>
          </a:p>
          <a:p>
            <a:pPr lvl="0"/>
            <a:r>
              <a:rPr lang="en-IN" b="1" dirty="0"/>
              <a:t>Database Cata log (Data Dictionary):</a:t>
            </a:r>
            <a:r>
              <a:rPr lang="en-IN" dirty="0"/>
              <a:t> Stores metadata such as table structures, constraints, and user information.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Slide 2 – Functions of DBMS Components</a:t>
            </a:r>
          </a:p>
          <a:p>
            <a:endParaRPr lang="en-IN" b="1" dirty="0"/>
          </a:p>
          <a:p>
            <a:pPr lvl="0"/>
            <a:r>
              <a:rPr lang="en-IN" b="1" dirty="0"/>
              <a:t>Query Processor:</a:t>
            </a:r>
            <a:r>
              <a:rPr lang="en-IN" dirty="0"/>
              <a:t> Parses, optimizes, and executes SQL commands efficiently. </a:t>
            </a:r>
          </a:p>
          <a:p>
            <a:pPr lvl="0"/>
            <a:r>
              <a:rPr lang="en-IN" b="1" dirty="0"/>
              <a:t>Storage Manager:</a:t>
            </a:r>
            <a:r>
              <a:rPr lang="en-IN" dirty="0"/>
              <a:t> Handles data retrieval, storage allocation, and buffer management. </a:t>
            </a:r>
          </a:p>
          <a:p>
            <a:pPr lvl="0"/>
            <a:r>
              <a:rPr lang="en-IN" b="1" dirty="0"/>
              <a:t>Transaction Manager:</a:t>
            </a:r>
            <a:r>
              <a:rPr lang="en-IN" dirty="0"/>
              <a:t> Controls concurrent transactions and performs recovery after failures. </a:t>
            </a:r>
          </a:p>
          <a:p>
            <a:pPr lvl="0"/>
            <a:r>
              <a:rPr lang="en-IN" b="1" dirty="0"/>
              <a:t>Working Flow:</a:t>
            </a:r>
            <a:r>
              <a:rPr lang="en-IN" dirty="0"/>
              <a:t> </a:t>
            </a:r>
            <a:r>
              <a:rPr lang="en-IN" b="1" dirty="0"/>
              <a:t>User → Query Processor → Storage Manager → Database → Transaction Manager → Result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046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83E5-8119-1B3B-EA59-1C8D8B523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769" y="367248"/>
            <a:ext cx="8200390" cy="615553"/>
          </a:xfrm>
        </p:spPr>
        <p:txBody>
          <a:bodyPr/>
          <a:lstStyle/>
          <a:p>
            <a:r>
              <a:rPr lang="en-IN" dirty="0"/>
              <a:t>                       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484C4-A863-A9A3-D305-B5D6E0942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053" y="1203038"/>
            <a:ext cx="10180320" cy="4924425"/>
          </a:xfrm>
        </p:spPr>
        <p:txBody>
          <a:bodyPr/>
          <a:lstStyle/>
          <a:p>
            <a:r>
              <a:rPr lang="en-IN" dirty="0"/>
              <a:t> User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  Query Processor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   Storage Manager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       Database</a:t>
            </a:r>
          </a:p>
          <a:p>
            <a:r>
              <a:rPr lang="en-IN" dirty="0"/>
              <a:t>            ▲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Transaction Manager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        Result</a:t>
            </a:r>
          </a:p>
        </p:txBody>
      </p:sp>
    </p:spTree>
    <p:extLst>
      <p:ext uri="{BB962C8B-B14F-4D97-AF65-F5344CB8AC3E}">
        <p14:creationId xmlns:p14="http://schemas.microsoft.com/office/powerpoint/2010/main" val="352122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F7AC6-3540-5A8E-C791-D9EFEEA0A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32184-7AEB-162B-579B-F8674589D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268542"/>
            <a:ext cx="5867400" cy="453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79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1203</Words>
  <Application>Microsoft Office PowerPoint</Application>
  <PresentationFormat>Widescreen</PresentationFormat>
  <Paragraphs>231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Times New Roman</vt:lpstr>
      <vt:lpstr>Wingdings</vt:lpstr>
      <vt:lpstr>Office Theme</vt:lpstr>
      <vt:lpstr>                    CSA0501– DATA BASE MANAGEMENT SYSTEM</vt:lpstr>
      <vt:lpstr>  QUESTION 1  INTRODUCTION TO DBMS  </vt:lpstr>
      <vt:lpstr>      OBJECTIVES OF DBMS </vt:lpstr>
      <vt:lpstr>      ADVANTAGES OF DBMS </vt:lpstr>
      <vt:lpstr>Real-World Applications of DBMS </vt:lpstr>
      <vt:lpstr>Summary </vt:lpstr>
      <vt:lpstr>QUESTION 2 Comparison Between File-Based System and DBMS  </vt:lpstr>
      <vt:lpstr>Q3. Comparison of Data Models </vt:lpstr>
      <vt:lpstr>Q4. Logical Data Independence vs Physical Data Independence </vt:lpstr>
      <vt:lpstr>Q5. Strong Entity vs Weak Entity </vt:lpstr>
      <vt:lpstr>Q6. ANSI/SPARC Three-Level Architecture </vt:lpstr>
      <vt:lpstr>Q7. ER Diagram – Online Library System </vt:lpstr>
      <vt:lpstr>Q8. EER Model – University Case Study </vt:lpstr>
      <vt:lpstr>Q9. EER Diagram – Retail Chain Management System</vt:lpstr>
      <vt:lpstr>Q10. Software Components of a DBMS </vt:lpstr>
      <vt:lpstr>                        Diagram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capstne ppt format.pptx</dc:title>
  <cp:lastModifiedBy>Kondapalli Venkat Satwik</cp:lastModifiedBy>
  <cp:revision>5</cp:revision>
  <dcterms:created xsi:type="dcterms:W3CDTF">2026-07-16T12:12:14Z</dcterms:created>
  <dcterms:modified xsi:type="dcterms:W3CDTF">2026-07-30T15:31:45Z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2026-07-16T00:00:00Z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2026-07-16T00:00:00Z</vt:filetime>
  </property>
</Properties>
</file>